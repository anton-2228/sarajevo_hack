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652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9028415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8563243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6800541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95260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43064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D5D4D-F4FF-51D8-13BE-A9B951F3E6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8060EB-A452-17A8-3E0A-5E89EA1DCB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784941-1C57-7D01-2009-F38B11D45D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>
                <a:lumMod val="60000"/>
                <a:lumOff val="40000"/>
              </a:schemeClr>
            </a:gs>
            <a:gs pos="52000">
              <a:schemeClr val="accent4">
                <a:lumMod val="75000"/>
              </a:schemeClr>
            </a:gs>
            <a:gs pos="100000">
              <a:schemeClr val="accent4">
                <a:lumMod val="50000"/>
              </a:schemeClr>
            </a:gs>
          </a:gsLst>
          <a:lin ang="183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73261" name=""/>
          <p:cNvSpPr/>
          <p:nvPr/>
        </p:nvSpPr>
        <p:spPr bwMode="auto">
          <a:xfrm rot="0" flipH="0" flipV="0">
            <a:off x="-3046" y="-18288"/>
            <a:ext cx="12198094" cy="6858000"/>
          </a:xfrm>
          <a:prstGeom prst="flowChartProcess">
            <a:avLst/>
          </a:prstGeom>
          <a:gradFill>
            <a:gsLst>
              <a:gs pos="11000">
                <a:srgbClr val="9A4CFF">
                  <a:alpha val="24999"/>
                </a:srgbClr>
              </a:gs>
              <a:gs pos="29000">
                <a:schemeClr val="accent4">
                  <a:lumMod val="75000"/>
                  <a:alpha val="24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4959729" name=""/>
          <p:cNvSpPr/>
          <p:nvPr/>
        </p:nvSpPr>
        <p:spPr bwMode="auto">
          <a:xfrm>
            <a:off x="1608525" y="3143621"/>
            <a:ext cx="6931725" cy="371215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40000">
                <a:srgbClr val="FFFFFF">
                  <a:alpha val="20000"/>
                </a:srgbClr>
              </a:gs>
              <a:gs pos="67000">
                <a:schemeClr val="bg1">
                  <a:alpha val="20000"/>
                </a:schemeClr>
              </a:gs>
              <a:gs pos="100000">
                <a:srgbClr val="B2E7D8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29348720" name=""/>
          <p:cNvSpPr/>
          <p:nvPr/>
        </p:nvSpPr>
        <p:spPr bwMode="auto">
          <a:xfrm>
            <a:off x="12205" y="-13486"/>
            <a:ext cx="5900310" cy="4443403"/>
          </a:xfrm>
          <a:custGeom>
            <a:avLst/>
            <a:gdLst/>
            <a:ahLst/>
            <a:cxnLst/>
            <a:rect l="0" t="0" r="r" b="b"/>
            <a:pathLst>
              <a:path w="5900311" h="4443406" fill="norm" stroke="1" extrusionOk="0">
                <a:moveTo>
                  <a:pt x="5734147" y="178085"/>
                </a:moveTo>
                <a:cubicBezTo>
                  <a:pt x="5917655" y="316198"/>
                  <a:pt x="5955009" y="580851"/>
                  <a:pt x="5816897" y="764358"/>
                </a:cubicBezTo>
                <a:cubicBezTo>
                  <a:pt x="5816897" y="764358"/>
                  <a:pt x="3173002" y="4277242"/>
                  <a:pt x="3173002" y="4277242"/>
                </a:cubicBezTo>
                <a:cubicBezTo>
                  <a:pt x="3034889" y="4460750"/>
                  <a:pt x="2770236" y="4498104"/>
                  <a:pt x="2586729" y="4359991"/>
                </a:cubicBezTo>
                <a:cubicBezTo>
                  <a:pt x="2586729" y="4359991"/>
                  <a:pt x="0" y="2413146"/>
                  <a:pt x="0" y="2413146"/>
                </a:cubicBezTo>
                <a:cubicBezTo>
                  <a:pt x="0" y="2413146"/>
                  <a:pt x="0" y="0"/>
                  <a:pt x="0" y="0"/>
                </a:cubicBezTo>
                <a:cubicBezTo>
                  <a:pt x="0" y="0"/>
                  <a:pt x="5497529" y="0"/>
                  <a:pt x="5497529" y="0"/>
                </a:cubicBezTo>
                <a:cubicBezTo>
                  <a:pt x="5497529" y="0"/>
                  <a:pt x="5734147" y="178085"/>
                  <a:pt x="5734147" y="178085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9000"/>
                </a:schemeClr>
              </a:gs>
              <a:gs pos="100000">
                <a:srgbClr val="FFFFFF">
                  <a:alpha val="19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344029957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119161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41182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100943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9734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4">
                <a:lumMod val="60000"/>
                <a:lumOff val="40000"/>
                <a:alpha val="80000"/>
              </a:schemeClr>
            </a:gs>
            <a:gs pos="50000">
              <a:schemeClr val="tx2">
                <a:lumMod val="20000"/>
                <a:lumOff val="80000"/>
                <a:alpha val="8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37941" name=""/>
          <p:cNvSpPr/>
          <p:nvPr/>
        </p:nvSpPr>
        <p:spPr bwMode="auto">
          <a:xfrm rot="5399976" flipH="1" flipV="1">
            <a:off x="7989285" y="2567448"/>
            <a:ext cx="5466583" cy="286768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26000"/>
                </a:schemeClr>
              </a:gs>
              <a:gs pos="100000">
                <a:schemeClr val="accent1">
                  <a:lumMod val="40000"/>
                  <a:lumOff val="60000"/>
                  <a:alpha val="26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62657325" name=""/>
          <p:cNvSpPr/>
          <p:nvPr/>
        </p:nvSpPr>
        <p:spPr bwMode="auto">
          <a:xfrm flipH="1" flipV="1">
            <a:off x="6689838" y="10074"/>
            <a:ext cx="5466583" cy="286768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30000"/>
                </a:schemeClr>
              </a:gs>
              <a:gs pos="100000">
                <a:schemeClr val="accent1">
                  <a:lumMod val="40000"/>
                  <a:lumOff val="6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698850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93047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408666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32207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15385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490285" name=""/>
          <p:cNvSpPr/>
          <p:nvPr/>
        </p:nvSpPr>
        <p:spPr bwMode="auto">
          <a:xfrm flipH="0" flipV="0">
            <a:off x="10307682" y="1591393"/>
            <a:ext cx="1884315" cy="3514766"/>
          </a:xfrm>
          <a:custGeom>
            <a:avLst/>
            <a:gdLst/>
            <a:ahLst/>
            <a:cxnLst/>
            <a:rect l="0" t="0" r="r" b="b"/>
            <a:pathLst>
              <a:path w="3118700" h="5817231" fill="norm" stroke="1" extrusionOk="0">
                <a:moveTo>
                  <a:pt x="146499" y="3447326"/>
                </a:moveTo>
                <a:cubicBezTo>
                  <a:pt x="-21188" y="3313618"/>
                  <a:pt x="-49150" y="3065606"/>
                  <a:pt x="84556" y="2897918"/>
                </a:cubicBezTo>
                <a:cubicBezTo>
                  <a:pt x="84556" y="2897918"/>
                  <a:pt x="2278418" y="146500"/>
                  <a:pt x="2278418" y="146500"/>
                </a:cubicBezTo>
                <a:cubicBezTo>
                  <a:pt x="2412126" y="-21188"/>
                  <a:pt x="2660138" y="-49150"/>
                  <a:pt x="2827827" y="84557"/>
                </a:cubicBezTo>
                <a:cubicBezTo>
                  <a:pt x="2827827" y="84557"/>
                  <a:pt x="3118699" y="316486"/>
                  <a:pt x="3118699" y="316486"/>
                </a:cubicBezTo>
                <a:cubicBezTo>
                  <a:pt x="3118699" y="316486"/>
                  <a:pt x="3118699" y="5817230"/>
                  <a:pt x="3118699" y="5817230"/>
                </a:cubicBezTo>
                <a:cubicBezTo>
                  <a:pt x="3118699" y="5817230"/>
                  <a:pt x="146499" y="3447326"/>
                  <a:pt x="146499" y="3447326"/>
                </a:cubicBezTo>
                <a:close/>
              </a:path>
            </a:pathLst>
          </a:custGeom>
          <a:gradFill>
            <a:gsLst>
              <a:gs pos="37000">
                <a:schemeClr val="accent1"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60768954" name=""/>
          <p:cNvSpPr/>
          <p:nvPr/>
        </p:nvSpPr>
        <p:spPr bwMode="auto">
          <a:xfrm>
            <a:off x="4430162" y="2857419"/>
            <a:ext cx="7761834" cy="3992409"/>
          </a:xfrm>
          <a:custGeom>
            <a:avLst/>
            <a:gdLst/>
            <a:ahLst/>
            <a:cxnLst/>
            <a:rect l="0" t="0" r="r" b="b"/>
            <a:pathLst>
              <a:path w="7761835" h="3992412" fill="norm" stroke="1" extrusionOk="0">
                <a:moveTo>
                  <a:pt x="25740" y="3956607"/>
                </a:moveTo>
                <a:cubicBezTo>
                  <a:pt x="25740" y="3956607"/>
                  <a:pt x="3077054" y="178484"/>
                  <a:pt x="3077054" y="178484"/>
                </a:cubicBezTo>
                <a:cubicBezTo>
                  <a:pt x="3236531" y="-18593"/>
                  <a:pt x="3541870" y="-58713"/>
                  <a:pt x="3753762" y="89462"/>
                </a:cubicBezTo>
                <a:cubicBezTo>
                  <a:pt x="3753762" y="89462"/>
                  <a:pt x="7761835" y="2900835"/>
                  <a:pt x="7761835" y="2900835"/>
                </a:cubicBezTo>
                <a:cubicBezTo>
                  <a:pt x="7761835" y="2900835"/>
                  <a:pt x="7761835" y="3992411"/>
                  <a:pt x="7761835" y="3992411"/>
                </a:cubicBezTo>
                <a:cubicBezTo>
                  <a:pt x="7761835" y="3992411"/>
                  <a:pt x="0" y="3992196"/>
                  <a:pt x="0" y="3992196"/>
                </a:cubicBezTo>
                <a:cubicBezTo>
                  <a:pt x="7647" y="3980086"/>
                  <a:pt x="16414" y="3968162"/>
                  <a:pt x="25740" y="3956607"/>
                </a:cubicBezTo>
                <a:close/>
              </a:path>
            </a:pathLst>
          </a:custGeom>
          <a:gradFill>
            <a:gsLst>
              <a:gs pos="20000">
                <a:schemeClr val="accent4">
                  <a:lumMod val="75000"/>
                  <a:alpha val="49999"/>
                </a:schemeClr>
              </a:gs>
              <a:gs pos="100000">
                <a:schemeClr val="accent5">
                  <a:lumMod val="40000"/>
                  <a:lumOff val="6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42257646" name=""/>
          <p:cNvSpPr/>
          <p:nvPr/>
        </p:nvSpPr>
        <p:spPr bwMode="auto">
          <a:xfrm flipH="1" flipV="1">
            <a:off x="5950082" y="0"/>
            <a:ext cx="6241914" cy="3348777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25000">
                <a:schemeClr val="accent4">
                  <a:lumMod val="75000"/>
                  <a:alpha val="49999"/>
                </a:schemeClr>
              </a:gs>
              <a:gs pos="100000">
                <a:schemeClr val="accent1">
                  <a:lumMod val="40000"/>
                  <a:lumOff val="6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90419566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8" y="1709736"/>
            <a:ext cx="10515600" cy="16390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400"/>
            </a:lvl1pPr>
            <a:lvl2pPr>
              <a:defRPr sz="3400"/>
            </a:lvl2pPr>
            <a:lvl3pPr>
              <a:defRPr sz="34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78281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7" y="3353436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965879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268478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502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4">
                <a:alpha val="60000"/>
              </a:schemeClr>
            </a:gs>
            <a:gs pos="40000">
              <a:schemeClr val="accent4">
                <a:lumMod val="60000"/>
                <a:lumOff val="40000"/>
                <a:alpha val="6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208795" name="Flowchart: Process 1793711832"/>
          <p:cNvSpPr/>
          <p:nvPr/>
        </p:nvSpPr>
        <p:spPr bwMode="auto">
          <a:xfrm rot="0" flipH="0" flipV="1">
            <a:off x="-3045" y="0"/>
            <a:ext cx="12198093" cy="6858000"/>
          </a:xfrm>
          <a:prstGeom prst="flowChartProcess">
            <a:avLst/>
          </a:prstGeom>
          <a:gradFill>
            <a:gsLst>
              <a:gs pos="11000">
                <a:srgbClr val="9A4CFF">
                  <a:alpha val="24999"/>
                </a:srgbClr>
              </a:gs>
              <a:gs pos="29000">
                <a:schemeClr val="accent4">
                  <a:lumMod val="75000"/>
                  <a:alpha val="24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308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128188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715473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241840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1352428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748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313799949" name=""/>
          <p:cNvSpPr/>
          <p:nvPr/>
        </p:nvSpPr>
        <p:spPr bwMode="auto">
          <a:xfrm rot="10799989" flipH="1" flipV="1">
            <a:off x="-23343" y="2952747"/>
            <a:ext cx="6905646" cy="3924159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4000">
                <a:schemeClr val="accent4">
                  <a:lumMod val="60000"/>
                  <a:lumOff val="40000"/>
                  <a:alpha val="30000"/>
                </a:schemeClr>
              </a:gs>
              <a:gs pos="57000">
                <a:schemeClr val="accent1">
                  <a:lumMod val="20000"/>
                  <a:lumOff val="80000"/>
                  <a:alpha val="30000"/>
                </a:schemeClr>
              </a:gs>
              <a:gs pos="79000">
                <a:schemeClr val="accent1">
                  <a:lumMod val="40000"/>
                  <a:lumOff val="60000"/>
                  <a:alpha val="3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712479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8232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6" cy="823911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572181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966609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079917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644613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4755415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3325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815361122" name=""/>
          <p:cNvSpPr/>
          <p:nvPr/>
        </p:nvSpPr>
        <p:spPr bwMode="auto">
          <a:xfrm rot="5399999" flipH="0" flipV="1">
            <a:off x="8247630" y="2913630"/>
            <a:ext cx="2507248" cy="5381487"/>
          </a:xfrm>
          <a:custGeom>
            <a:avLst/>
            <a:gdLst/>
            <a:ahLst/>
            <a:cxnLst/>
            <a:rect l="0" t="0" r="r" b="b"/>
            <a:pathLst>
              <a:path w="3118700" h="5817231" fill="norm" stroke="1" extrusionOk="0">
                <a:moveTo>
                  <a:pt x="146499" y="3447326"/>
                </a:moveTo>
                <a:cubicBezTo>
                  <a:pt x="-21188" y="3313618"/>
                  <a:pt x="-49150" y="3065606"/>
                  <a:pt x="84556" y="2897918"/>
                </a:cubicBezTo>
                <a:cubicBezTo>
                  <a:pt x="84556" y="2897918"/>
                  <a:pt x="2278418" y="146500"/>
                  <a:pt x="2278418" y="146500"/>
                </a:cubicBezTo>
                <a:cubicBezTo>
                  <a:pt x="2412126" y="-21188"/>
                  <a:pt x="2660138" y="-49150"/>
                  <a:pt x="2827827" y="84557"/>
                </a:cubicBezTo>
                <a:cubicBezTo>
                  <a:pt x="2827827" y="84557"/>
                  <a:pt x="3118699" y="316486"/>
                  <a:pt x="3118699" y="316486"/>
                </a:cubicBezTo>
                <a:cubicBezTo>
                  <a:pt x="3118699" y="316486"/>
                  <a:pt x="3118699" y="5817230"/>
                  <a:pt x="3118699" y="5817230"/>
                </a:cubicBezTo>
                <a:cubicBezTo>
                  <a:pt x="3118699" y="5817230"/>
                  <a:pt x="146499" y="3447326"/>
                  <a:pt x="146499" y="3447326"/>
                </a:cubicBezTo>
                <a:close/>
              </a:path>
            </a:pathLst>
          </a:custGeom>
          <a:gradFill>
            <a:gsLst>
              <a:gs pos="13000">
                <a:srgbClr val="B2E7D8">
                  <a:alpha val="40000"/>
                </a:srgbClr>
              </a:gs>
              <a:gs pos="75000">
                <a:schemeClr val="accent4">
                  <a:lumMod val="20000"/>
                  <a:lumOff val="80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4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3210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3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3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34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34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3400"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 sz="3400"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 sz="3400"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 sz="3400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2318551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9289108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491337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180949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5141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5"/>
            </a:gs>
            <a:gs pos="22000">
              <a:schemeClr val="accent4">
                <a:lumMod val="75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515808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0116331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3733952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7253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806412278" name=""/>
          <p:cNvSpPr/>
          <p:nvPr/>
        </p:nvSpPr>
        <p:spPr bwMode="auto">
          <a:xfrm rot="10799989" flipH="0" flipV="1">
            <a:off x="2209806" y="1628529"/>
            <a:ext cx="9429385" cy="5229453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25000">
                <a:srgbClr val="B2E7D8">
                  <a:alpha val="40000"/>
                </a:srgbClr>
              </a:gs>
              <a:gs pos="64000">
                <a:schemeClr val="accent4">
                  <a:alpha val="40000"/>
                </a:schemeClr>
              </a:gs>
              <a:gs pos="90000">
                <a:schemeClr val="accent5"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53681113" name=""/>
          <p:cNvSpPr/>
          <p:nvPr/>
        </p:nvSpPr>
        <p:spPr bwMode="auto">
          <a:xfrm rot="16199986" flipH="0" flipV="1">
            <a:off x="-1209298" y="2689737"/>
            <a:ext cx="5383231" cy="2985491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37000">
                <a:schemeClr val="accent4">
                  <a:lumMod val="60000"/>
                  <a:lumOff val="40000"/>
                  <a:alpha val="40000"/>
                </a:schemeClr>
              </a:gs>
              <a:gs pos="64000">
                <a:schemeClr val="accent4">
                  <a:alpha val="40000"/>
                </a:schemeClr>
              </a:gs>
              <a:gs pos="90000">
                <a:schemeClr val="accent5"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92954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54916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7020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14786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84950670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371956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692568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779382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88214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5281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3962109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201520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6177144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4263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2393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072258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656466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7117345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474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4">
                <a:lumMod val="60000"/>
                <a:lumOff val="40000"/>
              </a:schemeClr>
            </a:gs>
            <a:gs pos="50000">
              <a:schemeClr val="tx2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61738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400" b="1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3400" b="1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3400" b="1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3400" b="1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3400" b="1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3400" b="1"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 sz="3400" b="1"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 sz="3400" b="1"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 sz="3400" b="1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76518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2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66524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9923582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765022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0612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Official sources review</a:t>
            </a:r>
            <a:endParaRPr/>
          </a:p>
        </p:txBody>
      </p:sp>
      <p:sp>
        <p:nvSpPr>
          <p:cNvPr id="1808245892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756650" y="1825624"/>
            <a:ext cx="5339349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"What It Would Take for BiH to Produce an AI Unicorn"</a:t>
            </a:r>
            <a:b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Dr. Elvir Čaušević (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BiH Futures Foundation), 2025 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A Unicorn cannot be created by sole tech and financial support, it needs an advanced coordination level within companies and willing to take risks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445408472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363820" y="1825624"/>
            <a:ext cx="5283678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"A Matter of Choice: Reimagining Development in BiH in the Age of AI"</a:t>
            </a:r>
            <a:b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Renaud Meyer (UNDP), 2025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400" b="0" i="0" u="none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AI development is a matter of choice and not just technological determinism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094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Real model results</a:t>
            </a:r>
            <a:endParaRPr/>
          </a:p>
        </p:txBody>
      </p:sp>
      <p:sp>
        <p:nvSpPr>
          <p:cNvPr id="10826074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DeepSeekMath-Base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7B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after addition learning: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GSM8K: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64.2%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vs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58.8%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from Minerva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540B</a:t>
            </a:r>
            <a:b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MATH: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36.2%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vs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33.6%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from Minerva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540B</a:t>
            </a:r>
            <a:b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model is 77 times smaller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but gets forward because of the 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selection choice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not the model scale itself.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LIMO — Less Is More for Reasoning (2025)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817 previously selected examples equipped with full reasoning chains.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Output: 57.1% AIME, 94.8% MATH — on comparison with classic SFT methods on 100,000+ examples, resulting only 6.5% AIME, 59.2% MATH.</a:t>
            </a:r>
            <a:b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«1% from previous methods data volume»</a:t>
            </a:r>
            <a:endParaRPr sz="2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31943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hades of Aurora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2026-09-13T10:18:04Z</dcterms:modified>
</cp:coreProperties>
</file>